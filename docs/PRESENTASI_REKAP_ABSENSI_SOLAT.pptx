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dk1="dk1" dk2="dk2" folHlink="folHlink" hlink="hlink" lt1="lt1" lt2="lt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C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posal"/>
          <p:cNvSpPr txBox="1"/>
          <p:nvPr/>
        </p:nvSpPr>
        <p:spPr>
          <a:xfrm>
            <a:off x="914400" y="1050000"/>
            <a:ext cx="103632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/>
            <a:r>
              <a:rPr lang="id-ID" sz="2000" b="1" dirty="0">
                <a:solidFill>
                  <a:srgbClr val="66C47B"/>
                </a:solidFill>
                <a:latin typeface="Aptos"/>
              </a:rPr>
              <a:t>PROPOSAL</a:t>
            </a:r>
            <a:endParaRPr lang="id-ID" sz="2000"/>
          </a:p>
        </p:txBody>
      </p:sp>
      <p:sp>
        <p:nvSpPr>
          <p:cNvPr id="3" name="Title"/>
          <p:cNvSpPr txBox="1"/>
          <p:nvPr/>
        </p:nvSpPr>
        <p:spPr>
          <a:xfrm>
            <a:off x="914400" y="1850000"/>
            <a:ext cx="103632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/>
            <a:r>
              <a:rPr lang="id-ID" sz="3600" b="1" dirty="0">
                <a:solidFill>
                  <a:srgbClr val="FFFFFF"/>
                </a:solidFill>
                <a:latin typeface="Aptos"/>
              </a:rPr>
              <a:t>Rekap Absensi Solat</a:t>
            </a:r>
            <a:endParaRPr lang="id-ID" sz="3600"/>
          </a:p>
        </p:txBody>
      </p:sp>
      <p:sp>
        <p:nvSpPr>
          <p:cNvPr id="4" name="Subtitle"/>
          <p:cNvSpPr txBox="1"/>
          <p:nvPr/>
        </p:nvSpPr>
        <p:spPr>
          <a:xfrm>
            <a:off x="1200000" y="3200000"/>
            <a:ext cx="99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/>
            <a:r>
              <a:rPr lang="id-ID" sz="1900" dirty="0">
                <a:solidFill>
                  <a:srgbClr val="D7EEE1"/>
                </a:solidFill>
                <a:latin typeface="Aptos"/>
              </a:rPr>
              <a:t>Aplikasi web untuk kehadiran, laporan, dan kartu QR siswa</a:t>
            </a:r>
            <a:endParaRPr lang="id-ID" sz="1900"/>
          </a:p>
        </p:txBody>
      </p:sp>
      <p:sp>
        <p:nvSpPr>
          <p:cNvPr id="5" name="Cover detail 1"/>
          <p:cNvSpPr txBox="1"/>
          <p:nvPr/>
        </p:nvSpPr>
        <p:spPr>
          <a:xfrm>
            <a:off x="1500000" y="4850000"/>
            <a:ext cx="9144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/>
            <a:r>
              <a:rPr lang="id-ID" sz="1500" b="1" dirty="0">
                <a:solidFill>
                  <a:srgbClr val="FFFFFF"/>
                </a:solidFill>
                <a:latin typeface="Aptos"/>
              </a:rPr>
              <a:t>Proposal penerapan dan pengembangan</a:t>
            </a:r>
            <a:endParaRPr lang="id-ID" sz="1500"/>
          </a:p>
        </p:txBody>
      </p:sp>
      <p:sp>
        <p:nvSpPr>
          <p:cNvPr id="6" name="Cover detail 2"/>
          <p:cNvSpPr txBox="1"/>
          <p:nvPr/>
        </p:nvSpPr>
        <p:spPr>
          <a:xfrm>
            <a:off x="1500000" y="5270000"/>
            <a:ext cx="9144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/>
            <a:r>
              <a:rPr lang="id-ID" sz="1500" dirty="0">
                <a:solidFill>
                  <a:srgbClr val="FFFFFF"/>
                </a:solidFill>
                <a:latin typeface="Aptos"/>
              </a:rPr>
              <a:t>SMKN 1 Subang / Al-Hidayah</a:t>
            </a:r>
            <a:endParaRPr lang="id-ID" sz="1500"/>
          </a:p>
        </p:txBody>
      </p:sp>
      <p:sp>
        <p:nvSpPr>
          <p:cNvPr id="7" name="Cover detail 3"/>
          <p:cNvSpPr txBox="1"/>
          <p:nvPr/>
        </p:nvSpPr>
        <p:spPr>
          <a:xfrm>
            <a:off x="1500000" y="5690000"/>
            <a:ext cx="9144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/>
            <a:r>
              <a:rPr lang="id-ID" sz="1500" dirty="0">
                <a:solidFill>
                  <a:srgbClr val="FFFFFF"/>
                </a:solidFill>
                <a:latin typeface="Aptos"/>
              </a:rPr>
              <a:t>7 Oktober 2026</a:t>
            </a:r>
            <a:endParaRPr lang="id-ID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00000" y="4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2650" b="1" dirty="0">
                <a:solidFill>
                  <a:srgbClr val="145C45"/>
                </a:solidFill>
                <a:latin typeface="Aptos"/>
              </a:rPr>
              <a:t>Kebutuhan yang ditangani</a:t>
            </a:r>
            <a:endParaRPr lang="id-ID" sz="2650"/>
          </a:p>
        </p:txBody>
      </p:sp>
      <p:sp>
        <p:nvSpPr>
          <p:cNvPr id="3" name="Accent"/>
          <p:cNvSpPr txBox="1"/>
          <p:nvPr/>
        </p:nvSpPr>
        <p:spPr>
          <a:xfrm>
            <a:off x="700000" y="1200000"/>
            <a:ext cx="160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200" b="1" dirty="0">
                <a:solidFill>
                  <a:srgbClr val="56A860"/>
                </a:solidFill>
                <a:latin typeface="Aptos"/>
              </a:rPr>
              <a:t>━━━━━━━━</a:t>
            </a:r>
            <a:endParaRPr lang="id-ID" sz="1200"/>
          </a:p>
        </p:txBody>
      </p:sp>
      <p:sp>
        <p:nvSpPr>
          <p:cNvPr id="4" name="Bullet 1"/>
          <p:cNvSpPr txBox="1"/>
          <p:nvPr/>
        </p:nvSpPr>
        <p:spPr>
          <a:xfrm>
            <a:off x="1050000" y="165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Data siswa dan kelas terpusat</a:t>
            </a:r>
            <a:endParaRPr lang="id-ID" sz="1800"/>
          </a:p>
        </p:txBody>
      </p:sp>
      <p:sp>
        <p:nvSpPr>
          <p:cNvPr id="5" name="Bullet 2"/>
          <p:cNvSpPr txBox="1"/>
          <p:nvPr/>
        </p:nvSpPr>
        <p:spPr>
          <a:xfrm>
            <a:off x="1050000" y="247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Pencatatan kehadiran harian yang konsisten</a:t>
            </a:r>
            <a:endParaRPr lang="id-ID" sz="1800"/>
          </a:p>
        </p:txBody>
      </p:sp>
      <p:sp>
        <p:nvSpPr>
          <p:cNvPr id="6" name="Bullet 3"/>
          <p:cNvSpPr txBox="1"/>
          <p:nvPr/>
        </p:nvSpPr>
        <p:spPr>
          <a:xfrm>
            <a:off x="1050000" y="329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Rekap yang mudah diperiksa dan diekspor</a:t>
            </a:r>
            <a:endParaRPr lang="id-ID" sz="1800"/>
          </a:p>
        </p:txBody>
      </p:sp>
      <p:sp>
        <p:nvSpPr>
          <p:cNvPr id="7" name="Bullet 4"/>
          <p:cNvSpPr txBox="1"/>
          <p:nvPr/>
        </p:nvSpPr>
        <p:spPr>
          <a:xfrm>
            <a:off x="1050000" y="411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Kartu identitas siswa yang dapat diakses melalui portal</a:t>
            </a:r>
            <a:endParaRPr lang="id-ID" sz="1800"/>
          </a:p>
        </p:txBody>
      </p:sp>
      <p:sp>
        <p:nvSpPr>
          <p:cNvPr id="8" name="Footer"/>
          <p:cNvSpPr txBox="1"/>
          <p:nvPr/>
        </p:nvSpPr>
        <p:spPr>
          <a:xfrm>
            <a:off x="700000" y="625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900" dirty="0">
                <a:solidFill>
                  <a:srgbClr val="728078"/>
                </a:solidFill>
                <a:latin typeface="Aptos"/>
              </a:rPr>
              <a:t>REKAP ABSENSI SOLAT   ·   02</a:t>
            </a:r>
            <a:endParaRPr lang="id-ID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00000" y="4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2650" b="1" dirty="0">
                <a:solidFill>
                  <a:srgbClr val="145C45"/>
                </a:solidFill>
                <a:latin typeface="Aptos"/>
              </a:rPr>
              <a:t>Tujuan aplikasi</a:t>
            </a:r>
            <a:endParaRPr lang="id-ID" sz="2650"/>
          </a:p>
        </p:txBody>
      </p:sp>
      <p:sp>
        <p:nvSpPr>
          <p:cNvPr id="3" name="Accent"/>
          <p:cNvSpPr txBox="1"/>
          <p:nvPr/>
        </p:nvSpPr>
        <p:spPr>
          <a:xfrm>
            <a:off x="700000" y="1200000"/>
            <a:ext cx="160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200" b="1" dirty="0">
                <a:solidFill>
                  <a:srgbClr val="56A860"/>
                </a:solidFill>
                <a:latin typeface="Aptos"/>
              </a:rPr>
              <a:t>━━━━━━━━</a:t>
            </a:r>
            <a:endParaRPr lang="id-ID" sz="1200"/>
          </a:p>
        </p:txBody>
      </p:sp>
      <p:sp>
        <p:nvSpPr>
          <p:cNvPr id="4" name="Bullet 1"/>
          <p:cNvSpPr txBox="1"/>
          <p:nvPr/>
        </p:nvSpPr>
        <p:spPr>
          <a:xfrm>
            <a:off x="1050000" y="165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Mempercepat pencatatan dengan QR</a:t>
            </a:r>
            <a:endParaRPr lang="id-ID" sz="1800"/>
          </a:p>
        </p:txBody>
      </p:sp>
      <p:sp>
        <p:nvSpPr>
          <p:cNvPr id="5" name="Bullet 2"/>
          <p:cNvSpPr txBox="1"/>
          <p:nvPr/>
        </p:nvSpPr>
        <p:spPr>
          <a:xfrm>
            <a:off x="1050000" y="247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Menyatukan data kelas, siswa, dan absensi</a:t>
            </a:r>
            <a:endParaRPr lang="id-ID" sz="1800"/>
          </a:p>
        </p:txBody>
      </p:sp>
      <p:sp>
        <p:nvSpPr>
          <p:cNvPr id="6" name="Bullet 3"/>
          <p:cNvSpPr txBox="1"/>
          <p:nvPr/>
        </p:nvSpPr>
        <p:spPr>
          <a:xfrm>
            <a:off x="1050000" y="329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Menyediakan laporan periode dan pemantauan alpha</a:t>
            </a:r>
            <a:endParaRPr lang="id-ID" sz="1800"/>
          </a:p>
        </p:txBody>
      </p:sp>
      <p:sp>
        <p:nvSpPr>
          <p:cNvPr id="7" name="Bullet 4"/>
          <p:cNvSpPr txBox="1"/>
          <p:nvPr/>
        </p:nvSpPr>
        <p:spPr>
          <a:xfrm>
            <a:off x="1050000" y="411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Mendukung cetak kartu serta dokumen A4</a:t>
            </a:r>
            <a:endParaRPr lang="id-ID" sz="1800"/>
          </a:p>
        </p:txBody>
      </p:sp>
      <p:sp>
        <p:nvSpPr>
          <p:cNvPr id="8" name="Footer"/>
          <p:cNvSpPr txBox="1"/>
          <p:nvPr/>
        </p:nvSpPr>
        <p:spPr>
          <a:xfrm>
            <a:off x="700000" y="625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900" dirty="0">
                <a:solidFill>
                  <a:srgbClr val="728078"/>
                </a:solidFill>
                <a:latin typeface="Aptos"/>
              </a:rPr>
              <a:t>REKAP ABSENSI SOLAT   ·   03</a:t>
            </a:r>
            <a:endParaRPr lang="id-ID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00000" y="4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2650" b="1" dirty="0">
                <a:solidFill>
                  <a:srgbClr val="145C45"/>
                </a:solidFill>
                <a:latin typeface="Aptos"/>
              </a:rPr>
              <a:t>Pengguna dan akses</a:t>
            </a:r>
            <a:endParaRPr lang="id-ID" sz="2650"/>
          </a:p>
        </p:txBody>
      </p:sp>
      <p:sp>
        <p:nvSpPr>
          <p:cNvPr id="3" name="Accent"/>
          <p:cNvSpPr txBox="1"/>
          <p:nvPr/>
        </p:nvSpPr>
        <p:spPr>
          <a:xfrm>
            <a:off x="700000" y="1200000"/>
            <a:ext cx="160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200" b="1" dirty="0">
                <a:solidFill>
                  <a:srgbClr val="56A860"/>
                </a:solidFill>
                <a:latin typeface="Aptos"/>
              </a:rPr>
              <a:t>━━━━━━━━</a:t>
            </a:r>
            <a:endParaRPr lang="id-ID" sz="1200"/>
          </a:p>
        </p:txBody>
      </p:sp>
      <p:sp>
        <p:nvSpPr>
          <p:cNvPr id="4" name="Bullet 1"/>
          <p:cNvSpPr txBox="1"/>
          <p:nvPr/>
        </p:nvSpPr>
        <p:spPr>
          <a:xfrm>
            <a:off x="1050000" y="165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Admin: seluruh fitur, akun, impor, template kartu</a:t>
            </a:r>
            <a:endParaRPr lang="id-ID" sz="1800"/>
          </a:p>
        </p:txBody>
      </p:sp>
      <p:sp>
        <p:nvSpPr>
          <p:cNvPr id="5" name="Bullet 2"/>
          <p:cNvSpPr txBox="1"/>
          <p:nvPr/>
        </p:nvSpPr>
        <p:spPr>
          <a:xfrm>
            <a:off x="1050000" y="247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Kesiswaan: data siswa, absensi, laporan, kartu</a:t>
            </a:r>
            <a:endParaRPr lang="id-ID" sz="1800"/>
          </a:p>
        </p:txBody>
      </p:sp>
      <p:sp>
        <p:nvSpPr>
          <p:cNvPr id="6" name="Bullet 3"/>
          <p:cNvSpPr txBox="1"/>
          <p:nvPr/>
        </p:nvSpPr>
        <p:spPr>
          <a:xfrm>
            <a:off x="1050000" y="329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Absensi: operasional kehadiran dan pemindaian QR</a:t>
            </a:r>
            <a:endParaRPr lang="id-ID" sz="1800"/>
          </a:p>
        </p:txBody>
      </p:sp>
      <p:sp>
        <p:nvSpPr>
          <p:cNvPr id="7" name="Bullet 4"/>
          <p:cNvSpPr txBox="1"/>
          <p:nvPr/>
        </p:nvSpPr>
        <p:spPr>
          <a:xfrm>
            <a:off x="1050000" y="411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Siswa: kartu pribadi, cetak/PDF, dan pengelolaan PIN</a:t>
            </a:r>
            <a:endParaRPr lang="id-ID" sz="1800"/>
          </a:p>
        </p:txBody>
      </p:sp>
      <p:sp>
        <p:nvSpPr>
          <p:cNvPr id="8" name="Footer"/>
          <p:cNvSpPr txBox="1"/>
          <p:nvPr/>
        </p:nvSpPr>
        <p:spPr>
          <a:xfrm>
            <a:off x="700000" y="625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900" dirty="0">
                <a:solidFill>
                  <a:srgbClr val="728078"/>
                </a:solidFill>
                <a:latin typeface="Aptos"/>
              </a:rPr>
              <a:t>REKAP ABSENSI SOLAT   ·   04</a:t>
            </a:r>
            <a:endParaRPr lang="id-ID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00000" y="4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2650" b="1" dirty="0">
                <a:solidFill>
                  <a:srgbClr val="145C45"/>
                </a:solidFill>
                <a:latin typeface="Aptos"/>
              </a:rPr>
              <a:t>Absensi dengan QR</a:t>
            </a:r>
            <a:endParaRPr lang="id-ID" sz="2650"/>
          </a:p>
        </p:txBody>
      </p:sp>
      <p:sp>
        <p:nvSpPr>
          <p:cNvPr id="3" name="Accent"/>
          <p:cNvSpPr txBox="1"/>
          <p:nvPr/>
        </p:nvSpPr>
        <p:spPr>
          <a:xfrm>
            <a:off x="700000" y="1200000"/>
            <a:ext cx="160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200" b="1" dirty="0">
                <a:solidFill>
                  <a:srgbClr val="56A860"/>
                </a:solidFill>
                <a:latin typeface="Aptos"/>
              </a:rPr>
              <a:t>━━━━━━━━</a:t>
            </a:r>
            <a:endParaRPr lang="id-ID" sz="1200"/>
          </a:p>
        </p:txBody>
      </p:sp>
      <p:sp>
        <p:nvSpPr>
          <p:cNvPr id="4" name="Bullet 1"/>
          <p:cNvSpPr txBox="1"/>
          <p:nvPr/>
        </p:nvSpPr>
        <p:spPr>
          <a:xfrm>
            <a:off x="1050000" y="165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Staf masuk dan membuka kamera pemindai</a:t>
            </a:r>
            <a:endParaRPr lang="id-ID" sz="1800"/>
          </a:p>
        </p:txBody>
      </p:sp>
      <p:sp>
        <p:nvSpPr>
          <p:cNvPr id="5" name="Bullet 2"/>
          <p:cNvSpPr txBox="1"/>
          <p:nvPr/>
        </p:nvSpPr>
        <p:spPr>
          <a:xfrm>
            <a:off x="1050000" y="247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Nomor induk diverifikasi terhadap siswa aktif</a:t>
            </a:r>
            <a:endParaRPr lang="id-ID" sz="1800"/>
          </a:p>
        </p:txBody>
      </p:sp>
      <p:sp>
        <p:nvSpPr>
          <p:cNvPr id="6" name="Bullet 3"/>
          <p:cNvSpPr txBox="1"/>
          <p:nvPr/>
        </p:nvSpPr>
        <p:spPr>
          <a:xfrm>
            <a:off x="1050000" y="329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Kehadiran dan waktu scan dicatat</a:t>
            </a:r>
            <a:endParaRPr lang="id-ID" sz="1800"/>
          </a:p>
        </p:txBody>
      </p:sp>
      <p:sp>
        <p:nvSpPr>
          <p:cNvPr id="7" name="Bullet 4"/>
          <p:cNvSpPr txBox="1"/>
          <p:nvPr/>
        </p:nvSpPr>
        <p:spPr>
          <a:xfrm>
            <a:off x="1050000" y="411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Pemindaian berulang tidak menggandakan kehadiran</a:t>
            </a:r>
            <a:endParaRPr lang="id-ID" sz="1800"/>
          </a:p>
        </p:txBody>
      </p:sp>
      <p:sp>
        <p:nvSpPr>
          <p:cNvPr id="8" name="Bullet 5"/>
          <p:cNvSpPr txBox="1"/>
          <p:nvPr/>
        </p:nvSpPr>
        <p:spPr>
          <a:xfrm>
            <a:off x="1050000" y="493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Jam operasional scan dapat diatur</a:t>
            </a:r>
            <a:endParaRPr lang="id-ID" sz="1800"/>
          </a:p>
        </p:txBody>
      </p:sp>
      <p:sp>
        <p:nvSpPr>
          <p:cNvPr id="9" name="Footer"/>
          <p:cNvSpPr txBox="1"/>
          <p:nvPr/>
        </p:nvSpPr>
        <p:spPr>
          <a:xfrm>
            <a:off x="700000" y="625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900" dirty="0">
                <a:solidFill>
                  <a:srgbClr val="728078"/>
                </a:solidFill>
                <a:latin typeface="Aptos"/>
              </a:rPr>
              <a:t>REKAP ABSENSI SOLAT   ·   05</a:t>
            </a:r>
            <a:endParaRPr lang="id-ID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00000" y="4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2650" b="1" dirty="0">
                <a:solidFill>
                  <a:srgbClr val="145C45"/>
                </a:solidFill>
                <a:latin typeface="Aptos"/>
              </a:rPr>
              <a:t>Portal dan kartu siswa</a:t>
            </a:r>
            <a:endParaRPr lang="id-ID" sz="2650"/>
          </a:p>
        </p:txBody>
      </p:sp>
      <p:sp>
        <p:nvSpPr>
          <p:cNvPr id="3" name="Accent"/>
          <p:cNvSpPr txBox="1"/>
          <p:nvPr/>
        </p:nvSpPr>
        <p:spPr>
          <a:xfrm>
            <a:off x="700000" y="1200000"/>
            <a:ext cx="160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200" b="1" dirty="0">
                <a:solidFill>
                  <a:srgbClr val="56A860"/>
                </a:solidFill>
                <a:latin typeface="Aptos"/>
              </a:rPr>
              <a:t>━━━━━━━━</a:t>
            </a:r>
            <a:endParaRPr lang="id-ID" sz="1200"/>
          </a:p>
        </p:txBody>
      </p:sp>
      <p:sp>
        <p:nvSpPr>
          <p:cNvPr id="4" name="Bullet 1"/>
          <p:cNvSpPr txBox="1"/>
          <p:nvPr/>
        </p:nvSpPr>
        <p:spPr>
          <a:xfrm>
            <a:off x="1050000" y="165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Login nomor induk dan PIN</a:t>
            </a:r>
            <a:endParaRPr lang="id-ID" sz="1800"/>
          </a:p>
        </p:txBody>
      </p:sp>
      <p:sp>
        <p:nvSpPr>
          <p:cNvPr id="5" name="Bullet 2"/>
          <p:cNvSpPr txBox="1"/>
          <p:nvPr/>
        </p:nvSpPr>
        <p:spPr>
          <a:xfrm>
            <a:off x="1050000" y="247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Kartu menampilkan data siswa dan QR</a:t>
            </a:r>
            <a:endParaRPr lang="id-ID" sz="1800"/>
          </a:p>
        </p:txBody>
      </p:sp>
      <p:sp>
        <p:nvSpPr>
          <p:cNvPr id="6" name="Bullet 3"/>
          <p:cNvSpPr txBox="1"/>
          <p:nvPr/>
        </p:nvSpPr>
        <p:spPr>
          <a:xfrm>
            <a:off x="1050000" y="329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Cetak langsung atau unduh PDF ukuran kartu</a:t>
            </a:r>
            <a:endParaRPr lang="id-ID" sz="1800"/>
          </a:p>
        </p:txBody>
      </p:sp>
      <p:sp>
        <p:nvSpPr>
          <p:cNvPr id="7" name="Bullet 4"/>
          <p:cNvSpPr txBox="1"/>
          <p:nvPr/>
        </p:nvSpPr>
        <p:spPr>
          <a:xfrm>
            <a:off x="1050000" y="411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Akses kartu terikat pada sesi siswa</a:t>
            </a:r>
            <a:endParaRPr lang="id-ID" sz="1800"/>
          </a:p>
        </p:txBody>
      </p:sp>
      <p:sp>
        <p:nvSpPr>
          <p:cNvPr id="8" name="Bullet 5"/>
          <p:cNvSpPr txBox="1"/>
          <p:nvPr/>
        </p:nvSpPr>
        <p:spPr>
          <a:xfrm>
            <a:off x="1050000" y="493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Siswa dapat mengganti PIN setelah masuk</a:t>
            </a:r>
            <a:endParaRPr lang="id-ID" sz="1800"/>
          </a:p>
        </p:txBody>
      </p:sp>
      <p:sp>
        <p:nvSpPr>
          <p:cNvPr id="9" name="Footer"/>
          <p:cNvSpPr txBox="1"/>
          <p:nvPr/>
        </p:nvSpPr>
        <p:spPr>
          <a:xfrm>
            <a:off x="700000" y="625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900" dirty="0">
                <a:solidFill>
                  <a:srgbClr val="728078"/>
                </a:solidFill>
                <a:latin typeface="Aptos"/>
              </a:rPr>
              <a:t>REKAP ABSENSI SOLAT   ·   06</a:t>
            </a:r>
            <a:endParaRPr lang="id-ID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00000" y="4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2650" b="1" dirty="0">
                <a:solidFill>
                  <a:srgbClr val="145C45"/>
                </a:solidFill>
                <a:latin typeface="Aptos"/>
              </a:rPr>
              <a:t>Data dan administrasi</a:t>
            </a:r>
            <a:endParaRPr lang="id-ID" sz="2650"/>
          </a:p>
        </p:txBody>
      </p:sp>
      <p:sp>
        <p:nvSpPr>
          <p:cNvPr id="3" name="Accent"/>
          <p:cNvSpPr txBox="1"/>
          <p:nvPr/>
        </p:nvSpPr>
        <p:spPr>
          <a:xfrm>
            <a:off x="700000" y="1200000"/>
            <a:ext cx="160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200" b="1" dirty="0">
                <a:solidFill>
                  <a:srgbClr val="56A860"/>
                </a:solidFill>
                <a:latin typeface="Aptos"/>
              </a:rPr>
              <a:t>━━━━━━━━</a:t>
            </a:r>
            <a:endParaRPr lang="id-ID" sz="1200"/>
          </a:p>
        </p:txBody>
      </p:sp>
      <p:sp>
        <p:nvSpPr>
          <p:cNvPr id="4" name="Bullet 1"/>
          <p:cNvSpPr txBox="1"/>
          <p:nvPr/>
        </p:nvSpPr>
        <p:spPr>
          <a:xfrm>
            <a:off x="1050000" y="165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Kelola siswa, kelas, kategori, dan foto</a:t>
            </a:r>
            <a:endParaRPr lang="id-ID" sz="1800"/>
          </a:p>
        </p:txBody>
      </p:sp>
      <p:sp>
        <p:nvSpPr>
          <p:cNvPr id="5" name="Bullet 2"/>
          <p:cNvSpPr txBox="1"/>
          <p:nvPr/>
        </p:nvSpPr>
        <p:spPr>
          <a:xfrm>
            <a:off x="1050000" y="247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Cari nama/nomor induk/kelas; daftar dimuat bertahap</a:t>
            </a:r>
            <a:endParaRPr lang="id-ID" sz="1800"/>
          </a:p>
        </p:txBody>
      </p:sp>
      <p:sp>
        <p:nvSpPr>
          <p:cNvPr id="6" name="Bullet 3"/>
          <p:cNvSpPr txBox="1"/>
          <p:nvPr/>
        </p:nvSpPr>
        <p:spPr>
          <a:xfrm>
            <a:off x="1050000" y="329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Impor XLSX/ODS untuk banyak sheet</a:t>
            </a:r>
            <a:endParaRPr lang="id-ID" sz="1800"/>
          </a:p>
        </p:txBody>
      </p:sp>
      <p:sp>
        <p:nvSpPr>
          <p:cNvPr id="7" name="Bullet 4"/>
          <p:cNvSpPr txBox="1"/>
          <p:nvPr/>
        </p:nvSpPr>
        <p:spPr>
          <a:xfrm>
            <a:off x="1050000" y="411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Reset PIN dan penghapusan terkontrol</a:t>
            </a:r>
            <a:endParaRPr lang="id-ID" sz="1800"/>
          </a:p>
        </p:txBody>
      </p:sp>
      <p:sp>
        <p:nvSpPr>
          <p:cNvPr id="8" name="Bullet 5"/>
          <p:cNvSpPr txBox="1"/>
          <p:nvPr/>
        </p:nvSpPr>
        <p:spPr>
          <a:xfrm>
            <a:off x="1050000" y="493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Kartu QR dapat dicetak individu atau massal</a:t>
            </a:r>
            <a:endParaRPr lang="id-ID" sz="1800"/>
          </a:p>
        </p:txBody>
      </p:sp>
      <p:sp>
        <p:nvSpPr>
          <p:cNvPr id="9" name="Footer"/>
          <p:cNvSpPr txBox="1"/>
          <p:nvPr/>
        </p:nvSpPr>
        <p:spPr>
          <a:xfrm>
            <a:off x="700000" y="625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900" dirty="0">
                <a:solidFill>
                  <a:srgbClr val="728078"/>
                </a:solidFill>
                <a:latin typeface="Aptos"/>
              </a:rPr>
              <a:t>REKAP ABSENSI SOLAT   ·   07</a:t>
            </a:r>
            <a:endParaRPr lang="id-ID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00000" y="4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2650" b="1" dirty="0">
                <a:solidFill>
                  <a:srgbClr val="145C45"/>
                </a:solidFill>
                <a:latin typeface="Aptos"/>
              </a:rPr>
              <a:t>Laporan dan dokumen</a:t>
            </a:r>
            <a:endParaRPr lang="id-ID" sz="2650"/>
          </a:p>
        </p:txBody>
      </p:sp>
      <p:sp>
        <p:nvSpPr>
          <p:cNvPr id="3" name="Accent"/>
          <p:cNvSpPr txBox="1"/>
          <p:nvPr/>
        </p:nvSpPr>
        <p:spPr>
          <a:xfrm>
            <a:off x="700000" y="1200000"/>
            <a:ext cx="160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200" b="1" dirty="0">
                <a:solidFill>
                  <a:srgbClr val="56A860"/>
                </a:solidFill>
                <a:latin typeface="Aptos"/>
              </a:rPr>
              <a:t>━━━━━━━━</a:t>
            </a:r>
            <a:endParaRPr lang="id-ID" sz="1200"/>
          </a:p>
        </p:txBody>
      </p:sp>
      <p:sp>
        <p:nvSpPr>
          <p:cNvPr id="4" name="Bullet 1"/>
          <p:cNvSpPr txBox="1"/>
          <p:nvPr/>
        </p:nvSpPr>
        <p:spPr>
          <a:xfrm>
            <a:off x="1050000" y="165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Rekap mingguan/bulanan per kelas</a:t>
            </a:r>
            <a:endParaRPr lang="id-ID" sz="1800"/>
          </a:p>
        </p:txBody>
      </p:sp>
      <p:sp>
        <p:nvSpPr>
          <p:cNvPr id="5" name="Bullet 2"/>
          <p:cNvSpPr txBox="1"/>
          <p:nvPr/>
        </p:nvSpPr>
        <p:spPr>
          <a:xfrm>
            <a:off x="1050000" y="247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Ringkasan status H, A, I, S dan rasio kehadiran</a:t>
            </a:r>
            <a:endParaRPr lang="id-ID" sz="1800"/>
          </a:p>
        </p:txBody>
      </p:sp>
      <p:sp>
        <p:nvSpPr>
          <p:cNvPr id="6" name="Bullet 3"/>
          <p:cNvSpPr txBox="1"/>
          <p:nvPr/>
        </p:nvSpPr>
        <p:spPr>
          <a:xfrm>
            <a:off x="1050000" y="329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Perbandingan tren dan daftar alpha</a:t>
            </a:r>
            <a:endParaRPr lang="id-ID" sz="1800"/>
          </a:p>
        </p:txBody>
      </p:sp>
      <p:sp>
        <p:nvSpPr>
          <p:cNvPr id="7" name="Bullet 4"/>
          <p:cNvSpPr txBox="1"/>
          <p:nvPr/>
        </p:nvSpPr>
        <p:spPr>
          <a:xfrm>
            <a:off x="1050000" y="411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Ekspor rekap Excel</a:t>
            </a:r>
            <a:endParaRPr lang="id-ID" sz="1800"/>
          </a:p>
        </p:txBody>
      </p:sp>
      <p:sp>
        <p:nvSpPr>
          <p:cNvPr id="8" name="Bullet 5"/>
          <p:cNvSpPr txBox="1"/>
          <p:nvPr/>
        </p:nvSpPr>
        <p:spPr>
          <a:xfrm>
            <a:off x="1050000" y="493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Cetak A4 Excel atau Word</a:t>
            </a:r>
            <a:endParaRPr lang="id-ID" sz="1800"/>
          </a:p>
        </p:txBody>
      </p:sp>
      <p:sp>
        <p:nvSpPr>
          <p:cNvPr id="9" name="Footer"/>
          <p:cNvSpPr txBox="1"/>
          <p:nvPr/>
        </p:nvSpPr>
        <p:spPr>
          <a:xfrm>
            <a:off x="700000" y="625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900" dirty="0">
                <a:solidFill>
                  <a:srgbClr val="728078"/>
                </a:solidFill>
                <a:latin typeface="Aptos"/>
              </a:rPr>
              <a:t>REKAP ABSENSI SOLAT   ·   08</a:t>
            </a:r>
            <a:endParaRPr lang="id-ID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00000" y="4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2650" b="1" dirty="0">
                <a:solidFill>
                  <a:srgbClr val="145C45"/>
                </a:solidFill>
                <a:latin typeface="Aptos"/>
              </a:rPr>
              <a:t>Arsitektur ringkas</a:t>
            </a:r>
            <a:endParaRPr lang="id-ID" sz="2650"/>
          </a:p>
        </p:txBody>
      </p:sp>
      <p:sp>
        <p:nvSpPr>
          <p:cNvPr id="3" name="Accent"/>
          <p:cNvSpPr txBox="1"/>
          <p:nvPr/>
        </p:nvSpPr>
        <p:spPr>
          <a:xfrm>
            <a:off x="700000" y="1200000"/>
            <a:ext cx="160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200" b="1" dirty="0">
                <a:solidFill>
                  <a:srgbClr val="56A860"/>
                </a:solidFill>
                <a:latin typeface="Aptos"/>
              </a:rPr>
              <a:t>━━━━━━━━</a:t>
            </a:r>
            <a:endParaRPr lang="id-ID" sz="1200"/>
          </a:p>
        </p:txBody>
      </p:sp>
      <p:sp>
        <p:nvSpPr>
          <p:cNvPr id="4" name="Bullet 1"/>
          <p:cNvSpPr txBox="1"/>
          <p:nvPr/>
        </p:nvSpPr>
        <p:spPr>
          <a:xfrm>
            <a:off x="1050000" y="165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Laravel 11 · PHP 8.2+</a:t>
            </a:r>
            <a:endParaRPr lang="id-ID" sz="1800"/>
          </a:p>
        </p:txBody>
      </p:sp>
      <p:sp>
        <p:nvSpPr>
          <p:cNvPr id="5" name="Bullet 2"/>
          <p:cNvSpPr txBox="1"/>
          <p:nvPr/>
        </p:nvSpPr>
        <p:spPr>
          <a:xfrm>
            <a:off x="1050000" y="247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Antarmuka Blade, CSS, dan JavaScript</a:t>
            </a:r>
            <a:endParaRPr lang="id-ID" sz="1800"/>
          </a:p>
        </p:txBody>
      </p:sp>
      <p:sp>
        <p:nvSpPr>
          <p:cNvPr id="6" name="Bullet 3"/>
          <p:cNvSpPr txBox="1"/>
          <p:nvPr/>
        </p:nvSpPr>
        <p:spPr>
          <a:xfrm>
            <a:off x="1050000" y="329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Database domain: users, kelas, siswa, absensi, pengaturan</a:t>
            </a:r>
            <a:endParaRPr lang="id-ID" sz="1800"/>
          </a:p>
        </p:txBody>
      </p:sp>
      <p:sp>
        <p:nvSpPr>
          <p:cNvPr id="7" name="Bullet 4"/>
          <p:cNvSpPr txBox="1"/>
          <p:nvPr/>
        </p:nvSpPr>
        <p:spPr>
          <a:xfrm>
            <a:off x="1050000" y="411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PhpSpreadsheet · PhpWord · Dompdf · Endroid QR Code</a:t>
            </a:r>
            <a:endParaRPr lang="id-ID" sz="1800"/>
          </a:p>
        </p:txBody>
      </p:sp>
      <p:sp>
        <p:nvSpPr>
          <p:cNvPr id="8" name="Bullet 5"/>
          <p:cNvSpPr txBox="1"/>
          <p:nvPr/>
        </p:nvSpPr>
        <p:spPr>
          <a:xfrm>
            <a:off x="1050000" y="493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Operasional CLI dari folder absen_shalat</a:t>
            </a:r>
            <a:endParaRPr lang="id-ID" sz="1800"/>
          </a:p>
        </p:txBody>
      </p:sp>
      <p:sp>
        <p:nvSpPr>
          <p:cNvPr id="9" name="Footer"/>
          <p:cNvSpPr txBox="1"/>
          <p:nvPr/>
        </p:nvSpPr>
        <p:spPr>
          <a:xfrm>
            <a:off x="700000" y="625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900" dirty="0">
                <a:solidFill>
                  <a:srgbClr val="728078"/>
                </a:solidFill>
                <a:latin typeface="Aptos"/>
              </a:rPr>
              <a:t>REKAP ABSENSI SOLAT   ·   09</a:t>
            </a:r>
            <a:endParaRPr lang="id-ID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00000" y="4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2650" b="1" dirty="0">
                <a:solidFill>
                  <a:srgbClr val="145C45"/>
                </a:solidFill>
                <a:latin typeface="Aptos"/>
              </a:rPr>
              <a:t>Keamanan dan kesiapan</a:t>
            </a:r>
            <a:endParaRPr lang="id-ID" sz="2650"/>
          </a:p>
        </p:txBody>
      </p:sp>
      <p:sp>
        <p:nvSpPr>
          <p:cNvPr id="3" name="Accent"/>
          <p:cNvSpPr txBox="1"/>
          <p:nvPr/>
        </p:nvSpPr>
        <p:spPr>
          <a:xfrm>
            <a:off x="700000" y="1200000"/>
            <a:ext cx="160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200" b="1" dirty="0">
                <a:solidFill>
                  <a:srgbClr val="56A860"/>
                </a:solidFill>
                <a:latin typeface="Aptos"/>
              </a:rPr>
              <a:t>━━━━━━━━</a:t>
            </a:r>
            <a:endParaRPr lang="id-ID" sz="1200"/>
          </a:p>
        </p:txBody>
      </p:sp>
      <p:sp>
        <p:nvSpPr>
          <p:cNvPr id="4" name="Bullet 1"/>
          <p:cNvSpPr txBox="1"/>
          <p:nvPr/>
        </p:nvSpPr>
        <p:spPr>
          <a:xfrm>
            <a:off x="1050000" y="165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Autentikasi staf, role, CSRF, dan pembatasan request</a:t>
            </a:r>
            <a:endParaRPr lang="id-ID" sz="1800"/>
          </a:p>
        </p:txBody>
      </p:sp>
      <p:sp>
        <p:nvSpPr>
          <p:cNvPr id="5" name="Bullet 2"/>
          <p:cNvSpPr txBox="1"/>
          <p:nvPr/>
        </p:nvSpPr>
        <p:spPr>
          <a:xfrm>
            <a:off x="1050000" y="247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APP_URL ditetapkan ke domain HTTPS tepercaya</a:t>
            </a:r>
            <a:endParaRPr lang="id-ID" sz="1800"/>
          </a:p>
        </p:txBody>
      </p:sp>
      <p:sp>
        <p:nvSpPr>
          <p:cNvPr id="6" name="Bullet 3"/>
          <p:cNvSpPr txBox="1"/>
          <p:nvPr/>
        </p:nvSpPr>
        <p:spPr>
          <a:xfrm>
            <a:off x="1050000" y="329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TRUSTED_PROXIES hanya IP/CIDR proxy yang benar</a:t>
            </a:r>
            <a:endParaRPr lang="id-ID" sz="1800"/>
          </a:p>
        </p:txBody>
      </p:sp>
      <p:sp>
        <p:nvSpPr>
          <p:cNvPr id="7" name="Bullet 4"/>
          <p:cNvSpPr txBox="1"/>
          <p:nvPr/>
        </p:nvSpPr>
        <p:spPr>
          <a:xfrm>
            <a:off x="1050000" y="411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PIN awal bersama siswa123 masih menjadi risiko sampai diganti</a:t>
            </a:r>
            <a:endParaRPr lang="id-ID" sz="1800"/>
          </a:p>
        </p:txBody>
      </p:sp>
      <p:sp>
        <p:nvSpPr>
          <p:cNvPr id="8" name="Bullet 5"/>
          <p:cNvSpPr txBox="1"/>
          <p:nvPr/>
        </p:nvSpPr>
        <p:spPr>
          <a:xfrm>
            <a:off x="1050000" y="493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Gunakan backup, pemantauan, serta CDN/WAF untuk proteksi DDoS edge</a:t>
            </a:r>
            <a:endParaRPr lang="id-ID" sz="1800"/>
          </a:p>
        </p:txBody>
      </p:sp>
      <p:sp>
        <p:nvSpPr>
          <p:cNvPr id="9" name="Footer"/>
          <p:cNvSpPr txBox="1"/>
          <p:nvPr/>
        </p:nvSpPr>
        <p:spPr>
          <a:xfrm>
            <a:off x="700000" y="625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900" dirty="0">
                <a:solidFill>
                  <a:srgbClr val="728078"/>
                </a:solidFill>
                <a:latin typeface="Aptos"/>
              </a:rPr>
              <a:t>REKAP ABSENSI SOLAT   ·   10</a:t>
            </a:r>
            <a:endParaRPr lang="id-ID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00000" y="4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2650" b="1" dirty="0">
                <a:solidFill>
                  <a:srgbClr val="145C45"/>
                </a:solidFill>
                <a:latin typeface="Aptos"/>
              </a:rPr>
              <a:t>Tahapan penerapan</a:t>
            </a:r>
            <a:endParaRPr lang="id-ID" sz="2650"/>
          </a:p>
        </p:txBody>
      </p:sp>
      <p:sp>
        <p:nvSpPr>
          <p:cNvPr id="3" name="Accent"/>
          <p:cNvSpPr txBox="1"/>
          <p:nvPr/>
        </p:nvSpPr>
        <p:spPr>
          <a:xfrm>
            <a:off x="700000" y="1200000"/>
            <a:ext cx="160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200" b="1" dirty="0">
                <a:solidFill>
                  <a:srgbClr val="56A860"/>
                </a:solidFill>
                <a:latin typeface="Aptos"/>
              </a:rPr>
              <a:t>━━━━━━━━</a:t>
            </a:r>
            <a:endParaRPr lang="id-ID" sz="1200"/>
          </a:p>
        </p:txBody>
      </p:sp>
      <p:sp>
        <p:nvSpPr>
          <p:cNvPr id="4" name="Bullet 1"/>
          <p:cNvSpPr txBox="1"/>
          <p:nvPr/>
        </p:nvSpPr>
        <p:spPr>
          <a:xfrm>
            <a:off x="1050000" y="165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1 · Persiapan konfigurasi dan penanggung jawab</a:t>
            </a:r>
            <a:endParaRPr lang="id-ID" sz="1800"/>
          </a:p>
        </p:txBody>
      </p:sp>
      <p:sp>
        <p:nvSpPr>
          <p:cNvPr id="5" name="Bullet 2"/>
          <p:cNvSpPr txBox="1"/>
          <p:nvPr/>
        </p:nvSpPr>
        <p:spPr>
          <a:xfrm>
            <a:off x="1050000" y="247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2 · Backup, migrasi, impor dan rekonsiliasi data</a:t>
            </a:r>
            <a:endParaRPr lang="id-ID" sz="1800"/>
          </a:p>
        </p:txBody>
      </p:sp>
      <p:sp>
        <p:nvSpPr>
          <p:cNvPr id="6" name="Bullet 3"/>
          <p:cNvSpPr txBox="1"/>
          <p:nvPr/>
        </p:nvSpPr>
        <p:spPr>
          <a:xfrm>
            <a:off x="1050000" y="329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3 · Uji role, scan, laporan, ekspor, kartu, dan pemulihan</a:t>
            </a:r>
            <a:endParaRPr lang="id-ID" sz="1800"/>
          </a:p>
        </p:txBody>
      </p:sp>
      <p:sp>
        <p:nvSpPr>
          <p:cNvPr id="7" name="Bullet 4"/>
          <p:cNvSpPr txBox="1"/>
          <p:nvPr/>
        </p:nvSpPr>
        <p:spPr>
          <a:xfrm>
            <a:off x="1050000" y="411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4 · Pelatihan staf dan sosialisasi siswa</a:t>
            </a:r>
            <a:endParaRPr lang="id-ID" sz="1800"/>
          </a:p>
        </p:txBody>
      </p:sp>
      <p:sp>
        <p:nvSpPr>
          <p:cNvPr id="8" name="Bullet 5"/>
          <p:cNvSpPr txBox="1"/>
          <p:nvPr/>
        </p:nvSpPr>
        <p:spPr>
          <a:xfrm>
            <a:off x="1050000" y="493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5 · Go-live dengan HTTPS, backup, dan pemantauan</a:t>
            </a:r>
            <a:endParaRPr lang="id-ID" sz="1800"/>
          </a:p>
        </p:txBody>
      </p:sp>
      <p:sp>
        <p:nvSpPr>
          <p:cNvPr id="9" name="Footer"/>
          <p:cNvSpPr txBox="1"/>
          <p:nvPr/>
        </p:nvSpPr>
        <p:spPr>
          <a:xfrm>
            <a:off x="700000" y="625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900" dirty="0">
                <a:solidFill>
                  <a:srgbClr val="728078"/>
                </a:solidFill>
                <a:latin typeface="Aptos"/>
              </a:rPr>
              <a:t>REKAP ABSENSI SOLAT   ·   11</a:t>
            </a:r>
            <a:endParaRPr lang="id-ID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00000" y="4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2650" b="1" dirty="0">
                <a:solidFill>
                  <a:srgbClr val="145C45"/>
                </a:solidFill>
                <a:latin typeface="Aptos"/>
              </a:rPr>
              <a:t>Indikator keberhasilan</a:t>
            </a:r>
            <a:endParaRPr lang="id-ID" sz="2650"/>
          </a:p>
        </p:txBody>
      </p:sp>
      <p:sp>
        <p:nvSpPr>
          <p:cNvPr id="3" name="Accent"/>
          <p:cNvSpPr txBox="1"/>
          <p:nvPr/>
        </p:nvSpPr>
        <p:spPr>
          <a:xfrm>
            <a:off x="700000" y="1200000"/>
            <a:ext cx="160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200" b="1" dirty="0">
                <a:solidFill>
                  <a:srgbClr val="56A860"/>
                </a:solidFill>
                <a:latin typeface="Aptos"/>
              </a:rPr>
              <a:t>━━━━━━━━</a:t>
            </a:r>
            <a:endParaRPr lang="id-ID" sz="1200"/>
          </a:p>
        </p:txBody>
      </p:sp>
      <p:sp>
        <p:nvSpPr>
          <p:cNvPr id="4" name="Bullet 1"/>
          <p:cNvSpPr txBox="1"/>
          <p:nvPr/>
        </p:nvSpPr>
        <p:spPr>
          <a:xfrm>
            <a:off x="1050000" y="165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Hak akses sesuai peran</a:t>
            </a:r>
            <a:endParaRPr lang="id-ID" sz="1800"/>
          </a:p>
        </p:txBody>
      </p:sp>
      <p:sp>
        <p:nvSpPr>
          <p:cNvPr id="5" name="Bullet 2"/>
          <p:cNvSpPr txBox="1"/>
          <p:nvPr/>
        </p:nvSpPr>
        <p:spPr>
          <a:xfrm>
            <a:off x="1050000" y="247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Scan akurat dan tidak duplikat</a:t>
            </a:r>
            <a:endParaRPr lang="id-ID" sz="1800"/>
          </a:p>
        </p:txBody>
      </p:sp>
      <p:sp>
        <p:nvSpPr>
          <p:cNvPr id="6" name="Bullet 3"/>
          <p:cNvSpPr txBox="1"/>
          <p:nvPr/>
        </p:nvSpPr>
        <p:spPr>
          <a:xfrm>
            <a:off x="1050000" y="329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Data laporan sesuai sampel tervalidasi</a:t>
            </a:r>
            <a:endParaRPr lang="id-ID" sz="1800"/>
          </a:p>
        </p:txBody>
      </p:sp>
      <p:sp>
        <p:nvSpPr>
          <p:cNvPr id="7" name="Bullet 4"/>
          <p:cNvSpPr txBox="1"/>
          <p:nvPr/>
        </p:nvSpPr>
        <p:spPr>
          <a:xfrm>
            <a:off x="1050000" y="411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Portal hanya menampilkan kartu pemilik sesi</a:t>
            </a:r>
            <a:endParaRPr lang="id-ID" sz="1800"/>
          </a:p>
        </p:txBody>
      </p:sp>
      <p:sp>
        <p:nvSpPr>
          <p:cNvPr id="8" name="Bullet 5"/>
          <p:cNvSpPr txBox="1"/>
          <p:nvPr/>
        </p:nvSpPr>
        <p:spPr>
          <a:xfrm>
            <a:off x="1050000" y="4930000"/>
            <a:ext cx="10300000" cy="6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1800" dirty="0">
                <a:solidFill>
                  <a:srgbClr val="263A32"/>
                </a:solidFill>
                <a:latin typeface="Aptos"/>
              </a:rPr>
              <a:t>•  Dokumen dapat dicetak dan backup dapat dipulihkan</a:t>
            </a:r>
            <a:endParaRPr lang="id-ID" sz="1800"/>
          </a:p>
        </p:txBody>
      </p:sp>
      <p:sp>
        <p:nvSpPr>
          <p:cNvPr id="9" name="Footer"/>
          <p:cNvSpPr txBox="1"/>
          <p:nvPr/>
        </p:nvSpPr>
        <p:spPr>
          <a:xfrm>
            <a:off x="700000" y="625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id-ID" sz="900" dirty="0">
                <a:solidFill>
                  <a:srgbClr val="728078"/>
                </a:solidFill>
                <a:latin typeface="Aptos"/>
              </a:rPr>
              <a:t>REKAP ABSENSI SOLAT   ·   12</a:t>
            </a:r>
            <a:endParaRPr lang="id-ID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kap Absensi Solat">
  <a:themeElements>
    <a:clrScheme name="Green">
      <a:dk1>
        <a:srgbClr val="173A2D"/>
      </a:dk1>
      <a:lt1>
        <a:srgbClr val="FFFFFF"/>
      </a:lt1>
      <a:dk2>
        <a:srgbClr val="145C45"/>
      </a:dk2>
      <a:lt2>
        <a:srgbClr val="F6F8F5"/>
      </a:lt2>
      <a:accent1>
        <a:srgbClr val="28744E"/>
      </a:accent1>
      <a:accent2>
        <a:srgbClr val="66C47B"/>
      </a:accent2>
      <a:accent3>
        <a:srgbClr val="E9B949"/>
      </a:accent3>
      <a:accent4>
        <a:srgbClr val="5487A8"/>
      </a:accent4>
      <a:accent5>
        <a:srgbClr val="9D6AA6"/>
      </a:accent5>
      <a:accent6>
        <a:srgbClr val="D46A5F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